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some of the logic sits in Excel. It answers one useful question: which sets a user can build from pieces they own. We want to preserve that value, make it easier to use and maintain, and create a foundation for new capabilities.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 is the current product. The future service first preserves its useful answer, then creates a controlled foundation for more user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 is not bad; it proved the need. The issue is that the capability now needs reliability, shared ownership, current data, and room to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earn the right to expand by first replacing the current outcome accurately. This keeps the migration measurable and prevents the stretches from delaying adoption.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copy every spreadsheet quirk automatically. Excel can mix policy, calculation, data repair, and personal workflow. A named business rule owner decides intended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challenge requires exact matching by design, colour, and quantity. Deliver the complete user path and reconcile it with approved Excel examples before beginning a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three optional goals from the challenge brief. Each is independently valuable and should enter the backlog as a separate outcome after the required answer is 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shared foundation avoids duplicate work. The ordered sequence limits unfinished work and creates feedback after each usable outcome. Decide search limits, freshness, privacy, and optimal-versus-feasible results deliberately when each stretch is selected.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fortnightly demonstrations and a decision log. New urgent requests enter the same backlog; changing the order also exposes the delivery impact. The team finishes work before starting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052560" y="-182880"/>
            <a:ext cx="1097280" cy="1828800"/>
          </a:xfrm>
          <a:prstGeom prst="round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222992" y="457200"/>
            <a:ext cx="1097280" cy="1828800"/>
          </a:xfrm>
          <a:prstGeom prst="roundRect">
            <a:avLst/>
          </a:prstGeom>
          <a:solidFill>
            <a:srgbClr val="FFCF00"/>
          </a:solidFill>
          <a:ln>
            <a:solidFill>
              <a:srgbClr val="FFC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58200" y="1691640"/>
            <a:ext cx="1097280" cy="1828800"/>
          </a:xfrm>
          <a:prstGeom prst="roundRect">
            <a:avLst/>
          </a:prstGeom>
          <a:solidFill>
            <a:srgbClr val="006DB4"/>
          </a:solidFill>
          <a:ln>
            <a:solidFill>
              <a:srgbClr val="00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46920" y="2359152"/>
            <a:ext cx="1097280" cy="1828800"/>
          </a:xfrm>
          <a:prstGeom prst="roundRect">
            <a:avLst/>
          </a:prstGeom>
          <a:solidFill>
            <a:srgbClr val="008542"/>
          </a:solidFill>
          <a:ln>
            <a:solidFill>
              <a:srgbClr val="008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8368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FFCF00"/>
                </a:solidFill>
                <a:latin typeface="Aptos"/>
              </a:defRPr>
            </a:pPr>
            <a:r>
              <a:t>BUILDER CATALOGUE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777240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From an Excel tool</a:t>
            </a:r>
            <a:br/>
            <a:r>
              <a:t>to a trusted digital 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32461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0">
                <a:solidFill>
                  <a:srgbClr val="CDD6DF"/>
                </a:solidFill>
                <a:latin typeface="Aptos"/>
              </a:defRPr>
            </a:pPr>
            <a:r>
              <a:t>Stakeholder and delivery overview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5257800"/>
            <a:ext cx="3154680" cy="566928"/>
          </a:xfrm>
          <a:prstGeom prst="roundRect">
            <a:avLst/>
          </a:prstGeom>
          <a:solidFill>
            <a:srgbClr val="1F344B"/>
          </a:solidFill>
          <a:ln>
            <a:solidFill>
              <a:srgbClr val="465B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5404104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1">
                <a:solidFill>
                  <a:srgbClr val="FFFFFF"/>
                </a:solidFill>
                <a:latin typeface="Aptos"/>
              </a:defRPr>
            </a:pPr>
            <a:r>
              <a:t>Preserve the value. Create room to grow.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6291072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A3B1BF"/>
                </a:solidFill>
                <a:latin typeface="Aptos"/>
              </a:defRPr>
            </a:pPr>
            <a:r>
              <a:t>27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A291C"/>
                </a:solidFill>
                <a:latin typeface="Aptos"/>
              </a:defRPr>
            </a:pPr>
            <a:r>
              <a:t>THE CHANGE IN ONE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132336"/>
                </a:solidFill>
                <a:latin typeface="Aptos"/>
              </a:defRPr>
            </a:pPr>
            <a:r>
              <a:t>Stakeholder overview: today and tomorrow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384048" cy="54864"/>
          </a:xfrm>
          <a:prstGeom prst="rect">
            <a:avLst/>
          </a:prstGeom>
          <a:solidFill>
            <a:srgbClr val="FFCF00"/>
          </a:solidFill>
          <a:ln>
            <a:solidFill>
              <a:srgbClr val="FFC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507492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0528" y="1572768"/>
            <a:ext cx="5074920" cy="4224528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A291C"/>
                </a:solidFill>
                <a:latin typeface="Aptos"/>
              </a:defRPr>
            </a:pPr>
            <a:r>
              <a:t>TODAY — EXCEL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40864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132336"/>
                </a:solidFill>
                <a:latin typeface="Aptos"/>
              </a:defRPr>
            </a:pPr>
            <a:r>
              <a:t>Find sets a user can build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90088"/>
            <a:ext cx="4343400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E38"/>
                </a:solidFill>
                <a:latin typeface="Aptos"/>
              </a:defRPr>
            </a:pPr>
            <a:r>
              <a:t>• Correct piece, colour, and quantity</a:t>
            </a:r>
          </a:p>
          <a:p>
            <a:pPr>
              <a:spcAft>
                <a:spcPts val="500"/>
              </a:spcAft>
              <a:defRPr sz="1400">
                <a:solidFill>
                  <a:srgbClr val="262E38"/>
                </a:solidFill>
                <a:latin typeface="Aptos"/>
              </a:defRPr>
            </a:pPr>
            <a:r>
              <a:t>• Workbook logic and manual operation</a:t>
            </a:r>
          </a:p>
          <a:p>
            <a:pPr>
              <a:spcAft>
                <a:spcPts val="500"/>
              </a:spcAft>
              <a:defRPr sz="1400">
                <a:solidFill>
                  <a:srgbClr val="262E38"/>
                </a:solidFill>
                <a:latin typeface="Aptos"/>
              </a:defRPr>
            </a:pPr>
            <a:r>
              <a:t>• Hard to share, explain, govern, or extend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10235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A291C"/>
                </a:solidFill>
                <a:latin typeface="Aptos"/>
              </a:defRPr>
            </a:pPr>
            <a:r>
              <a:t>VALUABLE PROOF OF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6440" y="306324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3600" b="1">
                <a:solidFill>
                  <a:srgbClr val="5B687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184708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8542"/>
                </a:solidFill>
                <a:latin typeface="Aptos"/>
              </a:defRPr>
            </a:pPr>
            <a:r>
              <a:t>TOMORROW —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340864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132336"/>
                </a:solidFill>
                <a:latin typeface="Aptos"/>
              </a:defRPr>
            </a:pPr>
            <a:r>
              <a:t>A trusted Builder Catalogue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2990088"/>
            <a:ext cx="4343400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E38"/>
                </a:solidFill>
                <a:latin typeface="Aptos"/>
              </a:defRPr>
            </a:pPr>
            <a:r>
              <a:t>• Consistent access to current data</a:t>
            </a:r>
          </a:p>
          <a:p>
            <a:pPr>
              <a:spcAft>
                <a:spcPts val="500"/>
              </a:spcAft>
              <a:defRPr sz="1400">
                <a:solidFill>
                  <a:srgbClr val="262E38"/>
                </a:solidFill>
                <a:latin typeface="Aptos"/>
              </a:defRPr>
            </a:pPr>
            <a:r>
              <a:t>• Explainable buildable and missing results</a:t>
            </a:r>
          </a:p>
          <a:p>
            <a:pPr>
              <a:spcAft>
                <a:spcPts val="500"/>
              </a:spcAft>
              <a:defRPr sz="1400">
                <a:solidFill>
                  <a:srgbClr val="262E38"/>
                </a:solidFill>
                <a:latin typeface="Aptos"/>
              </a:defRPr>
            </a:pPr>
            <a:r>
              <a:t>• Foundation for collaboration, shared builds, and colour flexibility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5102352"/>
            <a:ext cx="3840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8542"/>
                </a:solidFill>
                <a:latin typeface="Aptos"/>
              </a:defRPr>
            </a:pPr>
            <a:r>
              <a:t>SUPPORTED PRODUCT CAPABILITY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961888"/>
            <a:ext cx="10991088" cy="411480"/>
          </a:xfrm>
          <a:prstGeom prst="roundRect">
            <a:avLst/>
          </a:prstGeom>
          <a:solidFill>
            <a:srgbClr val="132336"/>
          </a:solidFill>
          <a:ln>
            <a:solidFill>
              <a:srgbClr val="13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6062472"/>
            <a:ext cx="10469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This is product creation—not a line-by-line spreadsheet conversion.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5B6876"/>
                </a:solidFill>
                <a:latin typeface="Aptos"/>
              </a:defRPr>
            </a:pPr>
            <a:r>
              <a:t>Builder Catalogue  |  From Excel to a digital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A291C"/>
                </a:solidFill>
                <a:latin typeface="Aptos"/>
              </a:defRPr>
            </a:pPr>
            <a:r>
              <a:t>RISK AND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132336"/>
                </a:solidFill>
                <a:latin typeface="Aptos"/>
              </a:defRPr>
            </a:pPr>
            <a:r>
              <a:t>Why replace Excel?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384048" cy="54864"/>
          </a:xfrm>
          <a:prstGeom prst="rect">
            <a:avLst/>
          </a:prstGeom>
          <a:solidFill>
            <a:srgbClr val="FFCF00"/>
          </a:solidFill>
          <a:ln>
            <a:solidFill>
              <a:srgbClr val="FFC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81912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A291C"/>
                </a:solidFill>
                <a:latin typeface="Aptos"/>
              </a:defRPr>
            </a:pPr>
            <a:r>
              <a:t>EXCEL CONSTRAINT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581912"/>
            <a:ext cx="4983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8542"/>
                </a:solidFill>
                <a:latin typeface="Aptos"/>
              </a:defRPr>
            </a:pPr>
            <a:r>
              <a:t>PRODUCT RESPONSE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93392"/>
            <a:ext cx="5230368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24728" y="1993392"/>
            <a:ext cx="57607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5798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62E38"/>
                </a:solidFill>
                <a:latin typeface="Aptos"/>
              </a:defRPr>
            </a:pPr>
            <a:r>
              <a:t>Hidden formulas, macros, and manual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8192" y="215798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62E38"/>
                </a:solidFill>
                <a:latin typeface="Aptos"/>
              </a:defRPr>
            </a:pPr>
            <a:r>
              <a:t>Explicit rules that can be reviewed and tested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752344"/>
            <a:ext cx="5230368" cy="621792"/>
          </a:xfrm>
          <a:prstGeom prst="rect">
            <a:avLst/>
          </a:prstGeom>
          <a:solidFill>
            <a:srgbClr val="F1F4F7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24728" y="2752344"/>
            <a:ext cx="5760720" cy="621792"/>
          </a:xfrm>
          <a:prstGeom prst="rect">
            <a:avLst/>
          </a:prstGeom>
          <a:solidFill>
            <a:srgbClr val="F1F4F7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1693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62E38"/>
                </a:solidFill>
                <a:latin typeface="Aptos"/>
              </a:defRPr>
            </a:pPr>
            <a:r>
              <a:t>Copies can contain stale data or different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08192" y="291693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62E38"/>
                </a:solidFill>
                <a:latin typeface="Aptos"/>
              </a:defRPr>
            </a:pPr>
            <a:r>
              <a:t>One service using current source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511296"/>
            <a:ext cx="5230368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24728" y="3511296"/>
            <a:ext cx="57607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758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62E38"/>
                </a:solidFill>
                <a:latin typeface="Aptos"/>
              </a:defRPr>
            </a:pPr>
            <a:r>
              <a:t>Results are difficult to explain or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36758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62E38"/>
                </a:solidFill>
                <a:latin typeface="Aptos"/>
              </a:defRPr>
            </a:pPr>
            <a:r>
              <a:t>Show the evidence behind every answer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270248"/>
            <a:ext cx="5230368" cy="621792"/>
          </a:xfrm>
          <a:prstGeom prst="rect">
            <a:avLst/>
          </a:prstGeom>
          <a:solidFill>
            <a:srgbClr val="F1F4F7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24728" y="4270248"/>
            <a:ext cx="5760720" cy="621792"/>
          </a:xfrm>
          <a:prstGeom prst="rect">
            <a:avLst/>
          </a:prstGeom>
          <a:solidFill>
            <a:srgbClr val="F1F4F7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43484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62E38"/>
                </a:solidFill>
                <a:latin typeface="Aptos"/>
              </a:defRPr>
            </a:pPr>
            <a:r>
              <a:t>Changes depend on specialist workbook knowledge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44348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62E38"/>
                </a:solidFill>
                <a:latin typeface="Aptos"/>
              </a:defRPr>
            </a:pPr>
            <a:r>
              <a:t>Shared ownership, version history, automated checks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029200"/>
            <a:ext cx="5230368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24728" y="5029200"/>
            <a:ext cx="5760720" cy="621792"/>
          </a:xfrm>
          <a:prstGeom prst="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5193792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62E38"/>
                </a:solidFill>
                <a:latin typeface="Aptos"/>
              </a:defRPr>
            </a:pPr>
            <a:r>
              <a:t>New scenarios increase workbook complexity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08192" y="51937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62E38"/>
                </a:solidFill>
                <a:latin typeface="Aptos"/>
              </a:defRPr>
            </a:pPr>
            <a:r>
              <a:t>Reusable foundations, extended one outcome at a 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5B6876"/>
                </a:solidFill>
                <a:latin typeface="Aptos"/>
              </a:defRPr>
            </a:pPr>
            <a:r>
              <a:t>Builder Catalogue  |  From Excel to a digital product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A291C"/>
                </a:solidFill>
                <a:latin typeface="Aptos"/>
              </a:defRPr>
            </a:pPr>
            <a:r>
              <a:t>VALUE OF THE FUTURE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132336"/>
                </a:solidFill>
                <a:latin typeface="Aptos"/>
              </a:defRPr>
            </a:pPr>
            <a:r>
              <a:t>What we 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384048" cy="54864"/>
          </a:xfrm>
          <a:prstGeom prst="rect">
            <a:avLst/>
          </a:prstGeom>
          <a:solidFill>
            <a:srgbClr val="FFCF00"/>
          </a:solidFill>
          <a:ln>
            <a:solidFill>
              <a:srgbClr val="FFC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5413248" cy="1527048"/>
          </a:xfrm>
          <a:prstGeom prst="roundRect">
            <a:avLst/>
          </a:prstGeom>
          <a:solidFill>
            <a:srgbClr val="FFEEEB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1755648"/>
            <a:ext cx="73152" cy="41148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5564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32336"/>
                </a:solidFill>
                <a:latin typeface="Aptos"/>
              </a:defRPr>
            </a:pPr>
            <a:r>
              <a:t>For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474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5B6876"/>
                </a:solidFill>
                <a:latin typeface="Aptos"/>
              </a:defRPr>
            </a:pPr>
            <a:r>
              <a:t>Faster answers, a clearer experience, and explanations they can trust.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72768"/>
            <a:ext cx="5413248" cy="1527048"/>
          </a:xfrm>
          <a:prstGeom prst="roundRect">
            <a:avLst/>
          </a:prstGeom>
          <a:solidFill>
            <a:srgbClr val="E7F4FC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6792" y="1755648"/>
            <a:ext cx="73152" cy="411480"/>
          </a:xfrm>
          <a:prstGeom prst="rect">
            <a:avLst/>
          </a:prstGeom>
          <a:solidFill>
            <a:srgbClr val="006DB4"/>
          </a:solidFill>
          <a:ln>
            <a:solidFill>
              <a:srgbClr val="00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75564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32336"/>
                </a:solidFill>
                <a:latin typeface="Aptos"/>
              </a:defRPr>
            </a:pPr>
            <a:r>
              <a:t>For the 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86000"/>
            <a:ext cx="50474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5B6876"/>
                </a:solidFill>
                <a:latin typeface="Aptos"/>
              </a:defRPr>
            </a:pPr>
            <a:r>
              <a:t>One governed rule set, visible adoption, and less dependency on individuals.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47287"/>
            <a:ext cx="5413248" cy="1527048"/>
          </a:xfrm>
          <a:prstGeom prst="roundRect">
            <a:avLst/>
          </a:prstGeom>
          <a:solidFill>
            <a:srgbClr val="E6F6EE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" y="3630167"/>
            <a:ext cx="73152" cy="411480"/>
          </a:xfrm>
          <a:prstGeom prst="rect">
            <a:avLst/>
          </a:prstGeom>
          <a:solidFill>
            <a:srgbClr val="008542"/>
          </a:solidFill>
          <a:ln>
            <a:solidFill>
              <a:srgbClr val="008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630167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32336"/>
                </a:solidFill>
                <a:latin typeface="Aptos"/>
              </a:defRPr>
            </a:pPr>
            <a:r>
              <a:t>For the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50474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5B6876"/>
                </a:solidFill>
                <a:latin typeface="Aptos"/>
              </a:defRPr>
            </a:pPr>
            <a:r>
              <a:t>Smaller, safer changes with automated evidence and reusable foundations.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447287"/>
            <a:ext cx="5413248" cy="1527048"/>
          </a:xfrm>
          <a:prstGeom prst="roundRect">
            <a:avLst/>
          </a:prstGeom>
          <a:solidFill>
            <a:srgbClr val="FFF8DB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36792" y="3630167"/>
            <a:ext cx="73152" cy="411480"/>
          </a:xfrm>
          <a:prstGeom prst="rect">
            <a:avLst/>
          </a:prstGeom>
          <a:solidFill>
            <a:srgbClr val="B48100"/>
          </a:solidFill>
          <a:ln>
            <a:solidFill>
              <a:srgbClr val="B48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630167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32336"/>
                </a:solidFill>
                <a:latin typeface="Aptos"/>
              </a:defRPr>
            </a:pPr>
            <a:r>
              <a:t>Future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160519"/>
            <a:ext cx="50474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5B6876"/>
                </a:solidFill>
                <a:latin typeface="Aptos"/>
              </a:defRPr>
            </a:pPr>
            <a:r>
              <a:t>Collaboration, shared custom builds, and controlled colour substitution.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431536"/>
            <a:ext cx="10991088" cy="658368"/>
          </a:xfrm>
          <a:prstGeom prst="roundRect">
            <a:avLst/>
          </a:prstGeom>
          <a:solidFill>
            <a:srgbClr val="132336"/>
          </a:solidFill>
          <a:ln>
            <a:solidFill>
              <a:srgbClr val="13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632704"/>
            <a:ext cx="104424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Guardrail: replace the current Excel outcome before expanding the scope.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5B6876"/>
                </a:solidFill>
                <a:latin typeface="Aptos"/>
              </a:defRPr>
            </a:pPr>
            <a:r>
              <a:t>Builder Catalogue  |  From Excel to a digital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A291C"/>
                </a:solidFill>
                <a:latin typeface="Aptos"/>
              </a:defRPr>
            </a:pPr>
            <a:r>
              <a:t>MIGRATION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132336"/>
                </a:solidFill>
                <a:latin typeface="Aptos"/>
              </a:defRPr>
            </a:pPr>
            <a:r>
              <a:t>Replace the workbook without losing its knowledge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384048" cy="54864"/>
          </a:xfrm>
          <a:prstGeom prst="rect">
            <a:avLst/>
          </a:prstGeom>
          <a:solidFill>
            <a:srgbClr val="FFCF00"/>
          </a:solidFill>
          <a:ln>
            <a:solidFill>
              <a:srgbClr val="FFC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700784"/>
            <a:ext cx="16276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24712" y="1435608"/>
            <a:ext cx="566928" cy="566928"/>
          </a:xfrm>
          <a:prstGeom prst="round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24712" y="1499616"/>
            <a:ext cx="566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03704"/>
            <a:ext cx="1408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DA291C"/>
                </a:solidFill>
                <a:latin typeface="Aptos"/>
              </a:defRPr>
            </a:pPr>
            <a: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706624"/>
            <a:ext cx="14081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5B6876"/>
                </a:solidFill>
                <a:latin typeface="Aptos"/>
              </a:defRPr>
            </a:pPr>
            <a:r>
              <a:t>Owners, formulas,</a:t>
            </a:r>
            <a:br/>
            <a:r>
              <a:t>macros, workarounds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9736" y="1700784"/>
            <a:ext cx="16276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90088" y="1435608"/>
            <a:ext cx="566928" cy="566928"/>
          </a:xfrm>
          <a:prstGeom prst="roundRect">
            <a:avLst/>
          </a:prstGeom>
          <a:solidFill>
            <a:srgbClr val="006DB4"/>
          </a:solidFill>
          <a:ln>
            <a:solidFill>
              <a:srgbClr val="00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0088" y="1499616"/>
            <a:ext cx="566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4" y="2203704"/>
            <a:ext cx="1408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06DB4"/>
                </a:solidFill>
                <a:latin typeface="Aptos"/>
              </a:defRPr>
            </a:pPr>
            <a:r>
              <a:t>DEFINE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2706624"/>
            <a:ext cx="14081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5B6876"/>
                </a:solidFill>
                <a:latin typeface="Aptos"/>
              </a:defRPr>
            </a:pPr>
            <a:r>
              <a:t>Rules as approved</a:t>
            </a:r>
            <a:br/>
            <a:r>
              <a:t>examples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5112" y="1700784"/>
            <a:ext cx="16276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55464" y="1435608"/>
            <a:ext cx="566928" cy="566928"/>
          </a:xfrm>
          <a:prstGeom prst="roundRect">
            <a:avLst/>
          </a:prstGeom>
          <a:solidFill>
            <a:srgbClr val="008542"/>
          </a:solidFill>
          <a:ln>
            <a:solidFill>
              <a:srgbClr val="008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55464" y="1499616"/>
            <a:ext cx="566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2203704"/>
            <a:ext cx="1408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008542"/>
                </a:solidFill>
                <a:latin typeface="Aptos"/>
              </a:defRPr>
            </a:pPr>
            <a:r>
              <a:t>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706624"/>
            <a:ext cx="14081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5B6876"/>
                </a:solidFill>
                <a:latin typeface="Aptos"/>
              </a:defRPr>
            </a:pPr>
            <a:r>
              <a:t>Smallest service for</a:t>
            </a:r>
            <a:br/>
            <a:r>
              <a:t>the same answer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700784"/>
            <a:ext cx="16276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20840" y="1435608"/>
            <a:ext cx="566928" cy="566928"/>
          </a:xfrm>
          <a:prstGeom prst="roundRect">
            <a:avLst/>
          </a:prstGeom>
          <a:solidFill>
            <a:srgbClr val="B48100"/>
          </a:solidFill>
          <a:ln>
            <a:solidFill>
              <a:srgbClr val="B48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1499616"/>
            <a:ext cx="566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203704"/>
            <a:ext cx="1408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B48100"/>
                </a:solidFill>
                <a:latin typeface="Aptos"/>
              </a:defRPr>
            </a:pPr>
            <a:r>
              <a:t>PROVE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2706624"/>
            <a:ext cx="14081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5B6876"/>
                </a:solidFill>
                <a:latin typeface="Aptos"/>
              </a:defRPr>
            </a:pPr>
            <a:r>
              <a:t>Golden cases +</a:t>
            </a:r>
            <a:br/>
            <a:r>
              <a:t>parallel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1700784"/>
            <a:ext cx="16276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86216" y="1435608"/>
            <a:ext cx="566928" cy="566928"/>
          </a:xfrm>
          <a:prstGeom prst="roundRect">
            <a:avLst/>
          </a:prstGeom>
          <a:solidFill>
            <a:srgbClr val="132336"/>
          </a:solidFill>
          <a:ln>
            <a:solidFill>
              <a:srgbClr val="13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86216" y="1499616"/>
            <a:ext cx="566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2203704"/>
            <a:ext cx="1408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132336"/>
                </a:solidFill>
                <a:latin typeface="Aptos"/>
              </a:defRPr>
            </a:pPr>
            <a:r>
              <a:t>ADOPT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2706624"/>
            <a:ext cx="14081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5B6876"/>
                </a:solidFill>
                <a:latin typeface="Aptos"/>
              </a:defRPr>
            </a:pPr>
            <a:r>
              <a:t>Pilot, support,</a:t>
            </a:r>
            <a:br/>
            <a:r>
              <a:t>read-only Excel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21240" y="1700784"/>
            <a:ext cx="1627632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451592" y="1435608"/>
            <a:ext cx="566928" cy="566928"/>
          </a:xfrm>
          <a:prstGeom prst="roundRect">
            <a:avLst/>
          </a:prstGeom>
          <a:solidFill>
            <a:srgbClr val="5B6876"/>
          </a:solidFill>
          <a:ln>
            <a:solidFill>
              <a:srgbClr val="5B68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51592" y="1499616"/>
            <a:ext cx="5669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30968" y="2203704"/>
            <a:ext cx="1408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100" b="1">
                <a:solidFill>
                  <a:srgbClr val="5B6876"/>
                </a:solidFill>
                <a:latin typeface="Aptos"/>
              </a:defRPr>
            </a:pPr>
            <a:r>
              <a:t>RETIRE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30968" y="2706624"/>
            <a:ext cx="14081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0">
                <a:solidFill>
                  <a:srgbClr val="5B6876"/>
                </a:solidFill>
                <a:latin typeface="Aptos"/>
              </a:defRPr>
            </a:pPr>
            <a:r>
              <a:t>Archive + remove</a:t>
            </a:r>
            <a:br/>
            <a:r>
              <a:t>operational dependency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315968"/>
            <a:ext cx="10991088" cy="1335024"/>
          </a:xfrm>
          <a:prstGeom prst="roundRect">
            <a:avLst/>
          </a:prstGeom>
          <a:solidFill>
            <a:srgbClr val="FFF8DB"/>
          </a:solidFill>
          <a:ln>
            <a:solidFill>
              <a:srgbClr val="F4D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" y="456285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9A6E00"/>
                </a:solidFill>
                <a:latin typeface="Aptos"/>
              </a:defRPr>
            </a:pPr>
            <a:r>
              <a:t>RECONCILIATION RULE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" y="4956048"/>
            <a:ext cx="77724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32336"/>
                </a:solidFill>
                <a:latin typeface="Aptos"/>
              </a:defRPr>
            </a:pPr>
            <a:r>
              <a:t>Every difference is a defect, an approved rule change, or a data-quality problem.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51392" y="4754880"/>
            <a:ext cx="22402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9A6E00"/>
                </a:solidFill>
                <a:latin typeface="Aptos"/>
              </a:defRPr>
            </a:pPr>
            <a:r>
              <a:t>Business rule owner signs off.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19672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5B6876"/>
                </a:solidFill>
                <a:latin typeface="Aptos"/>
              </a:defRPr>
            </a:pPr>
            <a:r>
              <a:t>Builder Catalogue  |  From Excel to a digital product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A291C"/>
                </a:solidFill>
                <a:latin typeface="Aptos"/>
              </a:defRPr>
            </a:pPr>
            <a:r>
              <a:t>MANDATORY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132336"/>
                </a:solidFill>
                <a:latin typeface="Aptos"/>
              </a:defRPr>
            </a:pPr>
            <a:r>
              <a:t>Developer brief: deliver the main goal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384048" cy="54864"/>
          </a:xfrm>
          <a:prstGeom prst="rect">
            <a:avLst/>
          </a:prstGeom>
          <a:solidFill>
            <a:srgbClr val="FFCF00"/>
          </a:solidFill>
          <a:ln>
            <a:solidFill>
              <a:srgbClr val="FFC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10991088" cy="822960"/>
          </a:xfrm>
          <a:prstGeom prst="roundRect">
            <a:avLst/>
          </a:prstGeom>
          <a:solidFill>
            <a:srgbClr val="132336"/>
          </a:solidFill>
          <a:ln>
            <a:solidFill>
              <a:srgbClr val="13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10512"/>
            <a:ext cx="1047902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Which sets can  brickfan35  build with their existing inventory?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79192"/>
            <a:ext cx="3438144" cy="1170432"/>
          </a:xfrm>
          <a:prstGeom prst="roundRect">
            <a:avLst/>
          </a:prstGeom>
          <a:solidFill>
            <a:srgbClr val="E7F4FC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" y="2862072"/>
            <a:ext cx="73152" cy="411480"/>
          </a:xfrm>
          <a:prstGeom prst="rect">
            <a:avLst/>
          </a:prstGeom>
          <a:solidFill>
            <a:srgbClr val="006DB4"/>
          </a:solidFill>
          <a:ln>
            <a:solidFill>
              <a:srgbClr val="00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862072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32336"/>
                </a:solidFill>
                <a:latin typeface="Aptos"/>
              </a:defRPr>
            </a:pPr>
            <a:r>
              <a:t>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92424"/>
            <a:ext cx="30723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5B6876"/>
                </a:solidFill>
                <a:latin typeface="Aptos"/>
              </a:defRPr>
            </a:pPr>
            <a:r>
              <a:t>Correct piece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679192"/>
            <a:ext cx="3438144" cy="1170432"/>
          </a:xfrm>
          <a:prstGeom prst="roundRect">
            <a:avLst/>
          </a:prstGeom>
          <a:solidFill>
            <a:srgbClr val="FFEEEB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9704" y="2862072"/>
            <a:ext cx="73152" cy="41148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862072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32336"/>
                </a:solidFill>
                <a:latin typeface="Aptos"/>
              </a:defRPr>
            </a:pPr>
            <a:r>
              <a:t>COLOUR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392424"/>
            <a:ext cx="30723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5B6876"/>
                </a:solidFill>
                <a:latin typeface="Aptos"/>
              </a:defRPr>
            </a:pPr>
            <a:r>
              <a:t>Correct colour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679192"/>
            <a:ext cx="3438144" cy="1170432"/>
          </a:xfrm>
          <a:prstGeom prst="roundRect">
            <a:avLst/>
          </a:prstGeom>
          <a:solidFill>
            <a:srgbClr val="E6F6EE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6" y="2862072"/>
            <a:ext cx="73152" cy="411480"/>
          </a:xfrm>
          <a:prstGeom prst="rect">
            <a:avLst/>
          </a:prstGeom>
          <a:solidFill>
            <a:srgbClr val="008542"/>
          </a:solidFill>
          <a:ln>
            <a:solidFill>
              <a:srgbClr val="008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2862072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32336"/>
                </a:solidFill>
                <a:latin typeface="Aptos"/>
              </a:defRPr>
            </a:pPr>
            <a:r>
              <a:t>QUANTITY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92424"/>
            <a:ext cx="307238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5B6876"/>
                </a:solidFill>
                <a:latin typeface="Aptos"/>
              </a:defRPr>
            </a:pPr>
            <a:r>
              <a:t>Enough of 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42816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A291C"/>
                </a:solidFill>
                <a:latin typeface="Aptos"/>
              </a:defRPr>
            </a:pPr>
            <a:r>
              <a:t>THIN END-TO-END DELIVERY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45152"/>
            <a:ext cx="197510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828032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32336"/>
                </a:solidFill>
                <a:latin typeface="Aptos"/>
              </a:defRPr>
            </a:pPr>
            <a:r>
              <a:t>Read inventory + catalogue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87752" y="4782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5B687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16352" y="4645152"/>
            <a:ext cx="197510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6080" y="4828032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32336"/>
                </a:solidFill>
                <a:latin typeface="Aptos"/>
              </a:defRPr>
            </a:pPr>
            <a:r>
              <a:t>Normalize piece identity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9744" y="4782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5B687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38344" y="4645152"/>
            <a:ext cx="197510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48072" y="4828032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32336"/>
                </a:solidFill>
                <a:latin typeface="Aptos"/>
              </a:defRPr>
            </a:pPr>
            <a:r>
              <a:t>Compare requirements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1736" y="4782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5B687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60336" y="4645152"/>
            <a:ext cx="197510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0064" y="4828032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32336"/>
                </a:solidFill>
                <a:latin typeface="Aptos"/>
              </a:defRPr>
            </a:pPr>
            <a:r>
              <a:t>Explain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4782312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700" b="1">
                <a:solidFill>
                  <a:srgbClr val="5B6876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482328" y="4645152"/>
            <a:ext cx="1975104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92056" y="4828032"/>
            <a:ext cx="175564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50" b="1">
                <a:solidFill>
                  <a:srgbClr val="132336"/>
                </a:solidFill>
                <a:latin typeface="Aptos"/>
              </a:defRPr>
            </a:pPr>
            <a:r>
              <a:t>Prove against Excel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5797296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>
                <a:solidFill>
                  <a:srgbClr val="008542"/>
                </a:solidFill>
                <a:latin typeface="Aptos"/>
              </a:defRPr>
            </a:pPr>
            <a:r>
              <a:t>Done = approved examples pass + results are explainable + failures are handled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9672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5B6876"/>
                </a:solidFill>
                <a:latin typeface="Aptos"/>
              </a:defRPr>
            </a:pPr>
            <a:r>
              <a:t>Builder Catalogue  |  From Excel to a digital product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A291C"/>
                </a:solidFill>
                <a:latin typeface="Aptos"/>
              </a:defRPr>
            </a:pPr>
            <a:r>
              <a:t>AFTER THE MAIN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132336"/>
                </a:solidFill>
                <a:latin typeface="Aptos"/>
              </a:defRPr>
            </a:pPr>
            <a:r>
              <a:t>Stretch outcomes: independent increments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384048" cy="54864"/>
          </a:xfrm>
          <a:prstGeom prst="rect">
            <a:avLst/>
          </a:prstGeom>
          <a:solidFill>
            <a:srgbClr val="FFCF00"/>
          </a:solidFill>
          <a:ln>
            <a:solidFill>
              <a:srgbClr val="FFC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3438144" cy="3566160"/>
          </a:xfrm>
          <a:prstGeom prst="roundRect">
            <a:avLst/>
          </a:prstGeom>
          <a:solidFill>
            <a:srgbClr val="E7F4FC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810512"/>
            <a:ext cx="420624" cy="420624"/>
          </a:xfrm>
          <a:prstGeom prst="roundRect">
            <a:avLst/>
          </a:prstGeom>
          <a:solidFill>
            <a:srgbClr val="006DB4"/>
          </a:solidFill>
          <a:ln>
            <a:solidFill>
              <a:srgbClr val="00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105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865376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6DB4"/>
                </a:solidFill>
                <a:latin typeface="Aptos"/>
              </a:defRPr>
            </a:pPr>
            <a:r>
              <a:t>COLLABORATION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3288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132336"/>
                </a:solidFill>
                <a:latin typeface="Aptos"/>
              </a:defRPr>
            </a:pPr>
            <a:r>
              <a:t>landscape-artist + tropical-island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264408"/>
            <a:ext cx="290779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0">
                <a:solidFill>
                  <a:srgbClr val="5B6876"/>
                </a:solidFill>
                <a:latin typeface="Aptos"/>
              </a:defRPr>
            </a:pPr>
            <a:r>
              <a:t>Cover only the missing pieces and return combinations without redundant collaborators.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00200"/>
            <a:ext cx="3438144" cy="3566160"/>
          </a:xfrm>
          <a:prstGeom prst="roundRect">
            <a:avLst/>
          </a:prstGeom>
          <a:solidFill>
            <a:srgbClr val="E6F6EE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07992" y="1810512"/>
            <a:ext cx="420624" cy="420624"/>
          </a:xfrm>
          <a:prstGeom prst="roundRect">
            <a:avLst/>
          </a:prstGeom>
          <a:solidFill>
            <a:srgbClr val="008542"/>
          </a:solidFill>
          <a:ln>
            <a:solidFill>
              <a:srgbClr val="008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18105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1865376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8542"/>
                </a:solidFill>
                <a:latin typeface="Aptos"/>
              </a:defRPr>
            </a:pPr>
            <a:r>
              <a:t>SHARED CUSTOM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53288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132336"/>
                </a:solidFill>
                <a:latin typeface="Aptos"/>
              </a:defRPr>
            </a:pPr>
            <a:r>
              <a:t>megabuilder99 + at least 50%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264408"/>
            <a:ext cx="290779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0">
                <a:solidFill>
                  <a:srgbClr val="5B6876"/>
                </a:solidFill>
                <a:latin typeface="Aptos"/>
              </a:defRPr>
            </a:pPr>
            <a:r>
              <a:t>Intersect candidate inventories, keep minimum quantities, and select the most useful valid result.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600200"/>
            <a:ext cx="3438144" cy="3566160"/>
          </a:xfrm>
          <a:prstGeom prst="roundRect">
            <a:avLst/>
          </a:prstGeom>
          <a:solidFill>
            <a:srgbClr val="FFEEEB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38744" y="1810512"/>
            <a:ext cx="420624" cy="420624"/>
          </a:xfrm>
          <a:prstGeom prst="round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1810512"/>
            <a:ext cx="42062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1865376"/>
            <a:ext cx="2423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A291C"/>
                </a:solidFill>
                <a:latin typeface="Aptos"/>
              </a:defRPr>
            </a:pPr>
            <a:r>
              <a:t>WHOLE-COLOUR SUBSTITUTION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2" y="2532888"/>
            <a:ext cx="30175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500" b="1">
                <a:solidFill>
                  <a:srgbClr val="132336"/>
                </a:solidFill>
                <a:latin typeface="Aptos"/>
              </a:defRPr>
            </a:pPr>
            <a:r>
              <a:t>dr_crocodile  •  HARD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264408"/>
            <a:ext cx="290779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0">
                <a:solidFill>
                  <a:srgbClr val="5B6876"/>
                </a:solidFill>
                <a:latin typeface="Aptos"/>
              </a:defRPr>
            </a:pPr>
            <a:r>
              <a:t>Move complete colour groups to unique colours; backtrack when one choice blocks another.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468112"/>
            <a:ext cx="10991088" cy="621792"/>
          </a:xfrm>
          <a:prstGeom prst="roundRect">
            <a:avLst/>
          </a:prstGeom>
          <a:solidFill>
            <a:srgbClr val="132336"/>
          </a:solidFill>
          <a:ln>
            <a:solidFill>
              <a:srgbClr val="13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650992"/>
            <a:ext cx="10469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Delivery rule: no stretch delays proving and replacing the main Excel outcome.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5B6876"/>
                </a:solidFill>
                <a:latin typeface="Aptos"/>
              </a:defRPr>
            </a:pPr>
            <a:r>
              <a:t>Builder Catalogue  |  From Excel to a digital product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A291C"/>
                </a:solidFill>
                <a:latin typeface="Aptos"/>
              </a:defRPr>
            </a:pPr>
            <a:r>
              <a:t>TECHNICAL DELIVERY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132336"/>
                </a:solidFill>
                <a:latin typeface="Aptos"/>
              </a:defRPr>
            </a:pPr>
            <a:r>
              <a:t>Build shared foundations once, add outcomes in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384048" cy="54864"/>
          </a:xfrm>
          <a:prstGeom prst="rect">
            <a:avLst/>
          </a:prstGeom>
          <a:solidFill>
            <a:srgbClr val="FFCF00"/>
          </a:solidFill>
          <a:ln>
            <a:solidFill>
              <a:srgbClr val="FFC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3822191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A291C"/>
                </a:solidFill>
                <a:latin typeface="Aptos"/>
              </a:defRPr>
            </a:pPr>
            <a:r>
              <a:t>SHARED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14016"/>
            <a:ext cx="3108960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62E38"/>
                </a:solidFill>
                <a:latin typeface="Aptos"/>
              </a:defRPr>
            </a:pPr>
            <a:r>
              <a:t>• Catalogue and inventory access</a:t>
            </a:r>
          </a:p>
          <a:p>
            <a:pPr>
              <a:spcAft>
                <a:spcPts val="500"/>
              </a:spcAft>
              <a:defRPr sz="1400">
                <a:solidFill>
                  <a:srgbClr val="262E38"/>
                </a:solidFill>
                <a:latin typeface="Aptos"/>
              </a:defRPr>
            </a:pPr>
            <a:r>
              <a:t>• Consistent piece identity</a:t>
            </a:r>
          </a:p>
          <a:p>
            <a:pPr>
              <a:spcAft>
                <a:spcPts val="500"/>
              </a:spcAft>
              <a:defRPr sz="1400">
                <a:solidFill>
                  <a:srgbClr val="262E38"/>
                </a:solidFill>
                <a:latin typeface="Aptos"/>
              </a:defRPr>
            </a:pPr>
            <a:r>
              <a:t>• Input validation and explainable results</a:t>
            </a:r>
          </a:p>
          <a:p>
            <a:pPr>
              <a:spcAft>
                <a:spcPts val="500"/>
              </a:spcAft>
              <a:defRPr sz="1400">
                <a:solidFill>
                  <a:srgbClr val="262E38"/>
                </a:solidFill>
                <a:latin typeface="Aptos"/>
              </a:defRPr>
            </a:pPr>
            <a:r>
              <a:t>• Excel baseline examples</a:t>
            </a:r>
          </a:p>
          <a:p>
            <a:pPr>
              <a:spcAft>
                <a:spcPts val="500"/>
              </a:spcAft>
              <a:defRPr sz="1400">
                <a:solidFill>
                  <a:srgbClr val="262E38"/>
                </a:solidFill>
                <a:latin typeface="Aptos"/>
              </a:defRPr>
            </a:pPr>
            <a:r>
              <a:t>• Logging, errors, and monitoring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24865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5B6876"/>
                </a:solidFill>
                <a:latin typeface="Aptos"/>
              </a:defRPr>
            </a:pPr>
            <a:r>
              <a:t>BUILD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581912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8542"/>
                </a:solidFill>
                <a:latin typeface="Aptos"/>
              </a:defRPr>
            </a:pPr>
            <a:r>
              <a:t>DELIVERY ORDER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993392"/>
            <a:ext cx="669340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65776" y="2084832"/>
            <a:ext cx="384048" cy="384048"/>
          </a:xfrm>
          <a:prstGeom prst="roundRect">
            <a:avLst/>
          </a:prstGeom>
          <a:solidFill>
            <a:srgbClr val="008542"/>
          </a:solidFill>
          <a:ln>
            <a:solidFill>
              <a:srgbClr val="008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65776" y="208483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50992" y="2148840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132336"/>
                </a:solidFill>
                <a:latin typeface="Aptos"/>
              </a:defRPr>
            </a:pPr>
            <a:r>
              <a:t>Exact buildability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3808" y="215798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Main goal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706624"/>
            <a:ext cx="669340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65776" y="2798064"/>
            <a:ext cx="384048" cy="384048"/>
          </a:xfrm>
          <a:prstGeom prst="roundRect">
            <a:avLst/>
          </a:prstGeom>
          <a:solidFill>
            <a:srgbClr val="006DB4"/>
          </a:solidFill>
          <a:ln>
            <a:solidFill>
              <a:srgbClr val="00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65776" y="279806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2862072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132336"/>
                </a:solidFill>
                <a:latin typeface="Aptos"/>
              </a:defRPr>
            </a:pPr>
            <a:r>
              <a:t>Collaboration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8" y="2871216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Stretch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3419856"/>
            <a:ext cx="669340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65776" y="3511296"/>
            <a:ext cx="384048" cy="384048"/>
          </a:xfrm>
          <a:prstGeom prst="roundRect">
            <a:avLst/>
          </a:prstGeom>
          <a:solidFill>
            <a:srgbClr val="008542"/>
          </a:solidFill>
          <a:ln>
            <a:solidFill>
              <a:srgbClr val="008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65776" y="35112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50992" y="3575304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132336"/>
                </a:solidFill>
                <a:latin typeface="Aptos"/>
              </a:defRPr>
            </a:pPr>
            <a:r>
              <a:t>Shared custom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93808" y="3584448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Stretch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92040" y="4133087"/>
            <a:ext cx="669340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65776" y="4224527"/>
            <a:ext cx="384048" cy="384048"/>
          </a:xfrm>
          <a:prstGeom prst="round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65776" y="4224527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50992" y="4288535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132336"/>
                </a:solidFill>
                <a:latin typeface="Aptos"/>
              </a:defRPr>
            </a:pPr>
            <a:r>
              <a:t>Colour substitution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8" y="4297679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Hard stretch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92040" y="4846320"/>
            <a:ext cx="6693408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65776" y="4937760"/>
            <a:ext cx="384048" cy="384048"/>
          </a:xfrm>
          <a:prstGeom prst="roundRect">
            <a:avLst/>
          </a:prstGeom>
          <a:solidFill>
            <a:srgbClr val="132336"/>
          </a:solidFill>
          <a:ln>
            <a:solidFill>
              <a:srgbClr val="13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65776" y="49377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50992" y="5001768"/>
            <a:ext cx="4114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132336"/>
                </a:solidFill>
                <a:latin typeface="Aptos"/>
              </a:defRPr>
            </a:pPr>
            <a:r>
              <a:t>Scale where evidence requires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5010912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Production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5696712"/>
            <a:ext cx="6693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200" b="1">
                <a:solidFill>
                  <a:srgbClr val="008542"/>
                </a:solidFill>
                <a:latin typeface="Aptos"/>
              </a:defRPr>
            </a:pPr>
            <a:r>
              <a:t>Every stage can be demonstrated, tested, and released without waiting for the full vision.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9672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5B6876"/>
                </a:solidFill>
                <a:latin typeface="Aptos"/>
              </a:defRPr>
            </a:pPr>
            <a:r>
              <a:t>Builder Catalogue  |  From Excel to a digital product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A291C"/>
                </a:solidFill>
                <a:latin typeface="Aptos"/>
              </a:defRPr>
            </a:pPr>
            <a:r>
              <a:t>TEAM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700" b="1">
                <a:solidFill>
                  <a:srgbClr val="132336"/>
                </a:solidFill>
                <a:latin typeface="Aptos"/>
              </a:defRPr>
            </a:pPr>
            <a:r>
              <a:t>Ways of working that improve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347472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000" b="1">
                <a:solidFill>
                  <a:srgbClr val="5B687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61872"/>
            <a:ext cx="384048" cy="54864"/>
          </a:xfrm>
          <a:prstGeom prst="rect">
            <a:avLst/>
          </a:prstGeom>
          <a:solidFill>
            <a:srgbClr val="FFCF00"/>
          </a:solidFill>
          <a:ln>
            <a:solidFill>
              <a:srgbClr val="FFC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5413248" cy="1335024"/>
          </a:xfrm>
          <a:prstGeom prst="roundRect">
            <a:avLst/>
          </a:prstGeom>
          <a:solidFill>
            <a:srgbClr val="FFEEEB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8952" y="1755648"/>
            <a:ext cx="73152" cy="411480"/>
          </a:xfrm>
          <a:prstGeom prst="rect">
            <a:avLst/>
          </a:prstGeom>
          <a:solidFill>
            <a:srgbClr val="DA291C"/>
          </a:solidFill>
          <a:ln>
            <a:solidFill>
              <a:srgbClr val="DA29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5564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32336"/>
                </a:solidFill>
                <a:latin typeface="Aptos"/>
              </a:defRPr>
            </a:pPr>
            <a:r>
              <a:t>One ordered backlog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86000"/>
            <a:ext cx="5047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5B6876"/>
                </a:solidFill>
                <a:latin typeface="Aptos"/>
              </a:defRPr>
            </a:pPr>
            <a:r>
              <a:t>The product manager makes priority and displaced work 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72768"/>
            <a:ext cx="5413248" cy="1335024"/>
          </a:xfrm>
          <a:prstGeom prst="roundRect">
            <a:avLst/>
          </a:prstGeom>
          <a:solidFill>
            <a:srgbClr val="E7F4FC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6792" y="1755648"/>
            <a:ext cx="73152" cy="411480"/>
          </a:xfrm>
          <a:prstGeom prst="rect">
            <a:avLst/>
          </a:prstGeom>
          <a:solidFill>
            <a:srgbClr val="006DB4"/>
          </a:solidFill>
          <a:ln>
            <a:solidFill>
              <a:srgbClr val="006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1755648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32336"/>
                </a:solidFill>
                <a:latin typeface="Aptos"/>
              </a:defRPr>
            </a:pPr>
            <a:r>
              <a:t>Small vertical slices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86000"/>
            <a:ext cx="5047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5B6876"/>
                </a:solidFill>
                <a:latin typeface="Aptos"/>
              </a:defRPr>
            </a:pPr>
            <a:r>
              <a:t>Experience, rule, code, evidence, and release stay together.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236976"/>
            <a:ext cx="5413248" cy="1335024"/>
          </a:xfrm>
          <a:prstGeom prst="roundRect">
            <a:avLst/>
          </a:prstGeom>
          <a:solidFill>
            <a:srgbClr val="FFF8DB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" y="3419856"/>
            <a:ext cx="73152" cy="411480"/>
          </a:xfrm>
          <a:prstGeom prst="rect">
            <a:avLst/>
          </a:prstGeom>
          <a:solidFill>
            <a:srgbClr val="B48100"/>
          </a:solidFill>
          <a:ln>
            <a:solidFill>
              <a:srgbClr val="B48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419856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32336"/>
                </a:solidFill>
                <a:latin typeface="Aptos"/>
              </a:defRPr>
            </a:pPr>
            <a:r>
              <a:t>Limit work 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50208"/>
            <a:ext cx="5047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5B6876"/>
                </a:solidFill>
                <a:latin typeface="Aptos"/>
              </a:defRPr>
            </a:pPr>
            <a:r>
              <a:t>Pull only with capacity; swarm on blocked and nearly-done 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236976"/>
            <a:ext cx="5413248" cy="1335024"/>
          </a:xfrm>
          <a:prstGeom prst="roundRect">
            <a:avLst/>
          </a:prstGeom>
          <a:solidFill>
            <a:srgbClr val="E6F6EE"/>
          </a:solidFill>
          <a:ln>
            <a:solidFill>
              <a:srgbClr val="DB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36792" y="3419856"/>
            <a:ext cx="73152" cy="411480"/>
          </a:xfrm>
          <a:prstGeom prst="rect">
            <a:avLst/>
          </a:prstGeom>
          <a:solidFill>
            <a:srgbClr val="008542"/>
          </a:solidFill>
          <a:ln>
            <a:solidFill>
              <a:srgbClr val="008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56248" y="3419856"/>
            <a:ext cx="4846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32336"/>
                </a:solidFill>
                <a:latin typeface="Aptos"/>
              </a:defRPr>
            </a:pPr>
            <a:r>
              <a:t>Decide before starting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950208"/>
            <a:ext cx="5047488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5B6876"/>
                </a:solidFill>
                <a:latin typeface="Aptos"/>
              </a:defRPr>
            </a:pPr>
            <a:r>
              <a:t>Trio and rule owner agree examples and acceptance criteria.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138928"/>
            <a:ext cx="10991088" cy="950976"/>
          </a:xfrm>
          <a:prstGeom prst="roundRect">
            <a:avLst/>
          </a:prstGeom>
          <a:solidFill>
            <a:srgbClr val="132336"/>
          </a:solidFill>
          <a:ln>
            <a:solidFill>
              <a:srgbClr val="13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340096"/>
            <a:ext cx="1965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FFCF00"/>
                </a:solidFill>
                <a:latin typeface="Aptos"/>
              </a:defRPr>
            </a:pPr>
            <a:r>
              <a:t>DECISIONS NEEDED NOW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9776" y="5312664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Aptos"/>
              </a:defRPr>
            </a:pPr>
            <a:r>
              <a:t>Nominate Excel rule owners  •  approve main-goal examples  •  agree parallel-run exit criteria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15000"/>
            <a:ext cx="104424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950" b="0">
                <a:solidFill>
                  <a:srgbClr val="CDD6DF"/>
                </a:solidFill>
                <a:latin typeface="Aptos"/>
              </a:defRPr>
            </a:pPr>
            <a:r>
              <a:t>Measure flow: cycle time • work-item age • WIP • blocked time     Measure value: discrepancies • reliability • adoption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5B6876"/>
                </a:solidFill>
                <a:latin typeface="Aptos"/>
              </a:defRPr>
            </a:pPr>
            <a:r>
              <a:t>Builder Catalogue  |  From Excel to a digital product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